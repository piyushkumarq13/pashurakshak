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8138160" y="-1737360"/>
            <a:ext cx="6035040" cy="6035040"/>
          </a:xfrm>
          <a:prstGeom prst="donut">
            <a:avLst>
              <a:gd name="adj" fmla="val 2000"/>
            </a:avLst>
          </a:prstGeom>
          <a:solidFill>
            <a:srgbClr val="2ED98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9966960" y="3840480"/>
            <a:ext cx="3200400" cy="3200400"/>
          </a:xfrm>
          <a:prstGeom prst="donut">
            <a:avLst>
              <a:gd name="adj" fmla="val 5000"/>
            </a:avLst>
          </a:prstGeom>
          <a:solidFill>
            <a:srgbClr val="F6C453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05840" y="4663440"/>
            <a:ext cx="2468880" cy="2468880"/>
          </a:xfrm>
          <a:prstGeom prst="ellipse">
            <a:avLst/>
          </a:prstGeom>
          <a:solidFill>
            <a:srgbClr val="3AD6C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ED98E">
              <a:alpha val="22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7" name="Picture 6" descr="i_E95E_2ED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76656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PASHURAKSHAK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722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7A90A2"/>
                </a:solidFill>
                <a:latin typeface="Arial"/>
              </a:rPr>
              <a:t>I D E A   S U B M I S S I O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303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C3D2DE"/>
                </a:solidFill>
                <a:latin typeface="Arial"/>
              </a:rPr>
              <a:t>TEAM PASHURAKSHAK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00200"/>
            <a:ext cx="109728" cy="2880360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81328"/>
            <a:ext cx="1005840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200" b="1" i="0">
                <a:solidFill>
                  <a:srgbClr val="FFFFFF"/>
                </a:solidFill>
                <a:latin typeface="Arial"/>
              </a:rPr>
              <a:t>PashuRakshak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6148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300" b="1" i="0">
                <a:solidFill>
                  <a:srgbClr val="2ED98E"/>
                </a:solidFill>
                <a:latin typeface="Arial"/>
              </a:rPr>
              <a:t>Livestock Disease Early-Warning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401568"/>
            <a:ext cx="7772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3D2DE"/>
                </a:solidFill>
                <a:latin typeface="Arial"/>
              </a:rPr>
              <a:t>An offline-first Android + web ecosystem that helps farmers report sick animals, vets respond faster, and governments detect outbreaks before they spread.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572000"/>
            <a:ext cx="2029968" cy="566928"/>
          </a:xfrm>
          <a:prstGeom prst="roundRect">
            <a:avLst>
              <a:gd name="adj" fmla="val 30000"/>
            </a:avLst>
          </a:prstGeom>
          <a:solidFill>
            <a:srgbClr val="0F222E">
              <a:alpha val="60000"/>
            </a:srgbClr>
          </a:solidFill>
          <a:ln w="12700">
            <a:solidFill>
              <a:srgbClr val="2ED98E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6" name="Picture 15" descr="i_E9D9_2ED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672584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45336" y="4572000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ECF3F8"/>
                </a:solidFill>
                <a:latin typeface="Arial"/>
              </a:rPr>
              <a:t>AI Risk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9544" y="4572000"/>
            <a:ext cx="2029968" cy="566928"/>
          </a:xfrm>
          <a:prstGeom prst="roundRect">
            <a:avLst>
              <a:gd name="adj" fmla="val 30000"/>
            </a:avLst>
          </a:prstGeom>
          <a:solidFill>
            <a:srgbClr val="0F222E">
              <a:alpha val="60000"/>
            </a:srgbClr>
          </a:solidFill>
          <a:ln w="12700">
            <a:solidFill>
              <a:srgbClr val="3AD6C9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9" name="Picture 18" descr="i_E81D_3AD6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672584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94759" y="4572000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ECF3F8"/>
                </a:solidFill>
                <a:latin typeface="Arial"/>
              </a:rPr>
              <a:t>Outbreak Clustering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8968" y="4572000"/>
            <a:ext cx="2029968" cy="566928"/>
          </a:xfrm>
          <a:prstGeom prst="roundRect">
            <a:avLst>
              <a:gd name="adj" fmla="val 30000"/>
            </a:avLst>
          </a:prstGeom>
          <a:solidFill>
            <a:srgbClr val="0F222E">
              <a:alpha val="60000"/>
            </a:srgbClr>
          </a:solidFill>
          <a:ln w="12700">
            <a:solidFill>
              <a:srgbClr val="F6C453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2" name="Picture 21" descr="i_E72C_F6C4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3" y="4672584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44183" y="4572000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ECF3F8"/>
                </a:solidFill>
                <a:latin typeface="Arial"/>
              </a:rPr>
              <a:t>Offline-First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8392" y="4572000"/>
            <a:ext cx="2029968" cy="566928"/>
          </a:xfrm>
          <a:prstGeom prst="roundRect">
            <a:avLst>
              <a:gd name="adj" fmla="val 30000"/>
            </a:avLst>
          </a:prstGeom>
          <a:solidFill>
            <a:srgbClr val="0F222E">
              <a:alpha val="60000"/>
            </a:srgbClr>
          </a:solidFill>
          <a:ln w="12700">
            <a:solidFill>
              <a:srgbClr val="A68C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5" name="Picture 24" descr="i_E8FE_A68C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408" y="4672584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93608" y="4572000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ECF3F8"/>
                </a:solidFill>
                <a:latin typeface="Arial"/>
              </a:rPr>
              <a:t>QR Passports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57816" y="4572000"/>
            <a:ext cx="2029968" cy="566928"/>
          </a:xfrm>
          <a:prstGeom prst="roundRect">
            <a:avLst>
              <a:gd name="adj" fmla="val 30000"/>
            </a:avLst>
          </a:prstGeom>
          <a:solidFill>
            <a:srgbClr val="0F222E">
              <a:alpha val="60000"/>
            </a:srgbClr>
          </a:solidFill>
          <a:ln w="12700">
            <a:solidFill>
              <a:srgbClr val="FF7A8A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8" name="Picture 27" descr="i_E895_FF7A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5832" y="4672584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43032" y="4572000"/>
            <a:ext cx="135331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ECF3F8"/>
                </a:solidFill>
                <a:latin typeface="Arial"/>
              </a:rPr>
              <a:t>Cloud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1">
                <a:solidFill>
                  <a:srgbClr val="F6C453"/>
                </a:solidFill>
                <a:latin typeface="Arial"/>
              </a:rPr>
              <a:t>“Protecting livestock, protecting livelihoods”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61447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7A90A2"/>
                </a:solidFill>
                <a:latin typeface="Arial"/>
              </a:rPr>
              <a:t>A complete digital ecosystem for livestock health monitoring, outbreak detection and veterinary management across rural India.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4206240"/>
            <a:ext cx="4206240" cy="4206240"/>
          </a:xfrm>
          <a:prstGeom prst="donut">
            <a:avLst>
              <a:gd name="adj" fmla="val 3500"/>
            </a:avLst>
          </a:prstGeom>
          <a:solidFill>
            <a:srgbClr val="2ED9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1097280" y="4480560"/>
            <a:ext cx="3108960" cy="3108960"/>
          </a:xfrm>
          <a:prstGeom prst="donut">
            <a:avLst>
              <a:gd name="adj" fmla="val 5000"/>
            </a:avLst>
          </a:prstGeom>
          <a:solidFill>
            <a:srgbClr val="3AD6C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T h e   W h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731520"/>
            <a:ext cx="9692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The Problem &amp;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3D2DE"/>
                </a:solidFill>
                <a:latin typeface="Arial"/>
              </a:rPr>
              <a:t>Rural livestock health is reactive today. PashuRakshak makes it proactive.</a:t>
            </a:r>
          </a:p>
        </p:txBody>
      </p:sp>
      <p:sp>
        <p:nvSpPr>
          <p:cNvPr id="10" name="Donut 9"/>
          <p:cNvSpPr/>
          <p:nvPr/>
        </p:nvSpPr>
        <p:spPr>
          <a:xfrm>
            <a:off x="11021263" y="384048"/>
            <a:ext cx="786384" cy="786384"/>
          </a:xfrm>
          <a:prstGeom prst="donut">
            <a:avLst>
              <a:gd name="adj" fmla="val 6000"/>
            </a:avLst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21263" y="38404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6C453"/>
                </a:solidFill>
                <a:latin typeface="Arial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5257800" cy="3794760"/>
          </a:xfrm>
          <a:prstGeom prst="roundRect">
            <a:avLst>
              <a:gd name="adj" fmla="val 5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37360"/>
            <a:ext cx="5257800" cy="82296"/>
          </a:xfrm>
          <a:prstGeom prst="rect">
            <a:avLst/>
          </a:prstGeom>
          <a:solidFill>
            <a:srgbClr val="FF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10312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FF7A8A">
              <a:alpha val="18000"/>
            </a:srgbClr>
          </a:solidFill>
          <a:ln w="12700">
            <a:solidFill>
              <a:srgbClr val="FF7A8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5" name="Picture 14" descr="i_E7BA_FF7A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40" y="2247960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45920" y="2103120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Today's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470916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Farmers have no quick, reliable way to report a sick animal.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Vets face unsorted caseloads with no triage or priority.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Outbreaks spread silently; response is always reactive.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Patchy connectivity and paper records slow every step.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737360"/>
            <a:ext cx="5257800" cy="3794760"/>
          </a:xfrm>
          <a:prstGeom prst="roundRect">
            <a:avLst>
              <a:gd name="adj" fmla="val 5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737360"/>
            <a:ext cx="5257800" cy="82296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210312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2ED98E">
              <a:alpha val="18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1" name="Picture 20" descr="i_E945_2ED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232" y="2247960"/>
            <a:ext cx="313822" cy="3138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96912" y="2103120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The PashuRakshak 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971800"/>
            <a:ext cx="470916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Report sick animals with a photo and GPS in seconds.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AI risk scoring + a priority queue routing vets to urgent cases.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Automatic outbreak clustering with instant, targeted alerts.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300" b="0" i="0">
                <a:solidFill>
                  <a:srgbClr val="C3D2DE"/>
                </a:solidFill>
                <a:latin typeface="Arial"/>
              </a:rPr>
              <a:t>Offline-first design that syncs the moment the network returns.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0908792" cy="603504"/>
          </a:xfrm>
          <a:prstGeom prst="roundRect">
            <a:avLst>
              <a:gd name="adj" fmla="val 12000"/>
            </a:avLst>
          </a:prstGeom>
          <a:solidFill>
            <a:srgbClr val="122A38">
              <a:alpha val="75000"/>
            </a:srgbClr>
          </a:solidFill>
          <a:ln w="12700">
            <a:solidFill>
              <a:srgbClr val="2ED98E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109087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One connected platform — from the farmer's field to the District Magistrate's dashboard.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92240"/>
            <a:ext cx="10911535" cy="18288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47104"/>
            <a:ext cx="8686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2ED98E"/>
                </a:solidFill>
                <a:latin typeface="Arial"/>
              </a:rPr>
              <a:t>PASHURAKSHAK</a:t>
            </a:r>
            <a:r>
              <a:rPr sz="950" b="0" i="0">
                <a:solidFill>
                  <a:srgbClr val="7A90A2"/>
                </a:solidFill>
                <a:latin typeface="Arial"/>
              </a:rPr>
              <a:t>  •  Livestock Disease Early-Warning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547104"/>
            <a:ext cx="1371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7A90A2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4206240"/>
            <a:ext cx="4206240" cy="4206240"/>
          </a:xfrm>
          <a:prstGeom prst="donut">
            <a:avLst>
              <a:gd name="adj" fmla="val 3500"/>
            </a:avLst>
          </a:prstGeom>
          <a:solidFill>
            <a:srgbClr val="2ED9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1097280" y="4480560"/>
            <a:ext cx="3108960" cy="3108960"/>
          </a:xfrm>
          <a:prstGeom prst="donut">
            <a:avLst>
              <a:gd name="adj" fmla="val 5000"/>
            </a:avLst>
          </a:prstGeom>
          <a:solidFill>
            <a:srgbClr val="3AD6C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W h y   P a s h u R a k s h a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731520"/>
            <a:ext cx="9692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The Gap Today &amp; Our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3D2DE"/>
                </a:solidFill>
                <a:latin typeface="Arial"/>
              </a:rPr>
              <a:t>Is anything like this already out there? Here is what exists — and what is missing.</a:t>
            </a:r>
          </a:p>
        </p:txBody>
      </p:sp>
      <p:sp>
        <p:nvSpPr>
          <p:cNvPr id="10" name="Donut 9"/>
          <p:cNvSpPr/>
          <p:nvPr/>
        </p:nvSpPr>
        <p:spPr>
          <a:xfrm>
            <a:off x="11021263" y="384048"/>
            <a:ext cx="786384" cy="786384"/>
          </a:xfrm>
          <a:prstGeom prst="donut">
            <a:avLst>
              <a:gd name="adj" fmla="val 6000"/>
            </a:avLst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21263" y="38404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6C453"/>
                </a:solidFill>
                <a:latin typeface="Arial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5029200" cy="3794760"/>
          </a:xfrm>
          <a:prstGeom prst="roundRect">
            <a:avLst>
              <a:gd name="adj" fmla="val 5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37360"/>
            <a:ext cx="5029200" cy="82296"/>
          </a:xfrm>
          <a:prstGeom prst="rect">
            <a:avLst/>
          </a:prstGeom>
          <a:solidFill>
            <a:srgbClr val="FF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04825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7A8A">
              <a:alpha val="18000"/>
            </a:srgbClr>
          </a:solidFill>
          <a:ln w="12700">
            <a:solidFill>
              <a:srgbClr val="FF7A8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5" name="Picture 14" descr="i_E7BA_FF7A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95" y="2171151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17904" y="2048256"/>
            <a:ext cx="402336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Existing solutions — and their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4526280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5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3D2DE"/>
                </a:solidFill>
                <a:latin typeface="Arial"/>
              </a:rPr>
              <a:t>Paper registers &amp; word-of-mouth — no data, no alerts.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5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3D2DE"/>
                </a:solidFill>
                <a:latin typeface="Arial"/>
              </a:rPr>
              <a:t>Govt reporting portals — slow, one-way, not field-ready.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5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3D2DE"/>
                </a:solidFill>
                <a:latin typeface="Arial"/>
              </a:rPr>
              <a:t>Generic telemedicine apps — built for humans, not livestock.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5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3D2DE"/>
                </a:solidFill>
                <a:latin typeface="Arial"/>
              </a:rPr>
              <a:t>Spreadsheets / WhatsApp groups — no triage or verification.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50" b="0" i="0">
                <a:solidFill>
                  <a:srgbClr val="FF7A8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3D2DE"/>
                </a:solidFill>
                <a:latin typeface="Arial"/>
              </a:rPr>
              <a:t>Single-purpose tools — vaccination OR insurance, not connected.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8105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How PashuRakshak compares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240280"/>
            <a:ext cx="5532120" cy="384048"/>
          </a:xfrm>
          <a:prstGeom prst="roundRect">
            <a:avLst>
              <a:gd name="adj" fmla="val 5000"/>
            </a:avLst>
          </a:prstGeom>
          <a:solidFill>
            <a:srgbClr val="122A38">
              <a:alpha val="95000"/>
            </a:srgbClr>
          </a:solidFill>
          <a:ln w="9525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224028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3D2DE"/>
                </a:solidFill>
                <a:latin typeface="Arial"/>
              </a:rPr>
              <a:t>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24028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C3D2DE"/>
                </a:solidFill>
                <a:latin typeface="Arial"/>
              </a:rPr>
              <a:t>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2240280"/>
            <a:ext cx="15087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2ED98E"/>
                </a:solidFill>
                <a:latin typeface="Arial"/>
              </a:rPr>
              <a:t>PashuRakshak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624328"/>
            <a:ext cx="5532120" cy="384048"/>
          </a:xfrm>
          <a:prstGeom prst="roundRect">
            <a:avLst>
              <a:gd name="adj" fmla="val 2000"/>
            </a:avLst>
          </a:prstGeom>
          <a:solidFill>
            <a:srgbClr val="0F222E">
              <a:alpha val="60000"/>
            </a:srgbClr>
          </a:solidFill>
          <a:ln w="6350">
            <a:solidFill>
              <a:srgbClr val="253E4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2624328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ECF3F8"/>
                </a:solidFill>
                <a:latin typeface="Arial"/>
              </a:rPr>
              <a:t>Offline-first field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62432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7A8A"/>
                </a:solidFill>
                <a:latin typeface="Arial"/>
              </a:rPr>
              <a:t>Rare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62432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ED98E"/>
                </a:solidFill>
                <a:latin typeface="Arial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008376"/>
            <a:ext cx="5532120" cy="384048"/>
          </a:xfrm>
          <a:prstGeom prst="roundRect">
            <a:avLst>
              <a:gd name="adj" fmla="val 2000"/>
            </a:avLst>
          </a:prstGeom>
          <a:solidFill>
            <a:srgbClr val="122A38">
              <a:alpha val="60000"/>
            </a:srgbClr>
          </a:solidFill>
          <a:ln w="6350">
            <a:solidFill>
              <a:srgbClr val="253E4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6" y="3008376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ECF3F8"/>
                </a:solidFill>
                <a:latin typeface="Arial"/>
              </a:rPr>
              <a:t>AI triage + vet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0083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7A8A"/>
                </a:solidFill>
                <a:latin typeface="Arial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008376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ED98E"/>
                </a:solidFill>
                <a:latin typeface="Arial"/>
              </a:rPr>
              <a:t>Yes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392424"/>
            <a:ext cx="5532120" cy="384048"/>
          </a:xfrm>
          <a:prstGeom prst="roundRect">
            <a:avLst>
              <a:gd name="adj" fmla="val 2000"/>
            </a:avLst>
          </a:prstGeom>
          <a:solidFill>
            <a:srgbClr val="0F222E">
              <a:alpha val="60000"/>
            </a:srgbClr>
          </a:solidFill>
          <a:ln w="6350">
            <a:solidFill>
              <a:srgbClr val="253E4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17336" y="3392424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ECF3F8"/>
                </a:solidFill>
                <a:latin typeface="Arial"/>
              </a:rPr>
              <a:t>Automatic outbreak clustering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3924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7A8A"/>
                </a:solidFill>
                <a:latin typeface="Arial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392424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ED98E"/>
                </a:solidFill>
                <a:latin typeface="Arial"/>
              </a:rP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3776472"/>
            <a:ext cx="5532120" cy="384048"/>
          </a:xfrm>
          <a:prstGeom prst="roundRect">
            <a:avLst>
              <a:gd name="adj" fmla="val 2000"/>
            </a:avLst>
          </a:prstGeom>
          <a:solidFill>
            <a:srgbClr val="122A38">
              <a:alpha val="60000"/>
            </a:srgbClr>
          </a:solidFill>
          <a:ln w="6350">
            <a:solidFill>
              <a:srgbClr val="253E4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17336" y="377647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ECF3F8"/>
                </a:solidFill>
                <a:latin typeface="Arial"/>
              </a:rPr>
              <a:t>Farmer, vet &amp; govt in one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77647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7A8A"/>
                </a:solidFill>
                <a:latin typeface="Arial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377647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ED98E"/>
                </a:solidFill>
                <a:latin typeface="Arial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160520"/>
            <a:ext cx="5532120" cy="384048"/>
          </a:xfrm>
          <a:prstGeom prst="roundRect">
            <a:avLst>
              <a:gd name="adj" fmla="val 2000"/>
            </a:avLst>
          </a:prstGeom>
          <a:solidFill>
            <a:srgbClr val="0F222E">
              <a:alpha val="60000"/>
            </a:srgbClr>
          </a:solidFill>
          <a:ln w="6350">
            <a:solidFill>
              <a:srgbClr val="253E4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7336" y="416052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ECF3F8"/>
                </a:solidFill>
                <a:latin typeface="Arial"/>
              </a:rPr>
              <a:t>Verifiable QR + 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1605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F7A8A"/>
                </a:solidFill>
                <a:latin typeface="Arial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160520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ED98E"/>
                </a:solidFill>
                <a:latin typeface="Arial"/>
              </a:rPr>
              <a:t>Yes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4544568"/>
            <a:ext cx="5532120" cy="384048"/>
          </a:xfrm>
          <a:prstGeom prst="roundRect">
            <a:avLst>
              <a:gd name="adj" fmla="val 2000"/>
            </a:avLst>
          </a:prstGeom>
          <a:solidFill>
            <a:srgbClr val="122A38">
              <a:alpha val="60000"/>
            </a:srgbClr>
          </a:solidFill>
          <a:ln w="6350">
            <a:solidFill>
              <a:srgbClr val="253E4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7336" y="4544568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ECF3F8"/>
                </a:solidFill>
                <a:latin typeface="Arial"/>
              </a:rPr>
              <a:t>Free, multi-role ecosystem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54456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F6C453"/>
                </a:solidFill>
                <a:latin typeface="Arial"/>
              </a:rP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54456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2ED98E"/>
                </a:solidFill>
                <a:latin typeface="Arial"/>
              </a:rPr>
              <a:t>Yes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669280"/>
            <a:ext cx="10908792" cy="603504"/>
          </a:xfrm>
          <a:prstGeom prst="roundRect">
            <a:avLst>
              <a:gd name="adj" fmla="val 12000"/>
            </a:avLst>
          </a:prstGeom>
          <a:solidFill>
            <a:srgbClr val="122A38">
              <a:alpha val="78000"/>
            </a:srgbClr>
          </a:solidFill>
          <a:ln w="12700">
            <a:solidFill>
              <a:srgbClr val="2ED98E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669280"/>
            <a:ext cx="1090879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2ED98E"/>
                </a:solidFill>
                <a:latin typeface="Arial"/>
              </a:rPr>
              <a:t>Our edge:  </a:t>
            </a:r>
            <a:r>
              <a:rPr sz="1250" b="0" i="0">
                <a:solidFill>
                  <a:srgbClr val="ECF3F8"/>
                </a:solidFill>
                <a:latin typeface="Arial"/>
              </a:rPr>
              <a:t>one connected, offline-first ecosystem — AI-assisted but always vet-verified, and built for rural India.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492240"/>
            <a:ext cx="10911535" cy="18288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547104"/>
            <a:ext cx="8686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2ED98E"/>
                </a:solidFill>
                <a:latin typeface="Arial"/>
              </a:rPr>
              <a:t>PASHURAKSHAK</a:t>
            </a:r>
            <a:r>
              <a:rPr sz="950" b="0" i="0">
                <a:solidFill>
                  <a:srgbClr val="7A90A2"/>
                </a:solidFill>
                <a:latin typeface="Arial"/>
              </a:rPr>
              <a:t>  •  Livestock Disease Early-Warning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80015" y="6547104"/>
            <a:ext cx="1371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7A90A2"/>
                </a:solidFill>
                <a:latin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4206240"/>
            <a:ext cx="4206240" cy="4206240"/>
          </a:xfrm>
          <a:prstGeom prst="donut">
            <a:avLst>
              <a:gd name="adj" fmla="val 3500"/>
            </a:avLst>
          </a:prstGeom>
          <a:solidFill>
            <a:srgbClr val="2ED9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1097280" y="4480560"/>
            <a:ext cx="3108960" cy="3108960"/>
          </a:xfrm>
          <a:prstGeom prst="donut">
            <a:avLst>
              <a:gd name="adj" fmla="val 5000"/>
            </a:avLst>
          </a:prstGeom>
          <a:solidFill>
            <a:srgbClr val="3AD6C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H o w   I t   W o r k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731520"/>
            <a:ext cx="9692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End-to-End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3D2DE"/>
                </a:solidFill>
                <a:latin typeface="Arial"/>
              </a:rPr>
              <a:t>A single report flows through scoring, outbreak detection, a verified vet visit and government action.</a:t>
            </a:r>
          </a:p>
        </p:txBody>
      </p:sp>
      <p:sp>
        <p:nvSpPr>
          <p:cNvPr id="10" name="Donut 9"/>
          <p:cNvSpPr/>
          <p:nvPr/>
        </p:nvSpPr>
        <p:spPr>
          <a:xfrm>
            <a:off x="11021263" y="384048"/>
            <a:ext cx="786384" cy="786384"/>
          </a:xfrm>
          <a:prstGeom prst="donut">
            <a:avLst>
              <a:gd name="adj" fmla="val 6000"/>
            </a:avLst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21263" y="38404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6C453"/>
                </a:solidFill>
                <a:latin typeface="Arial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1965960"/>
            <a:ext cx="1883664" cy="1828800"/>
          </a:xfrm>
          <a:prstGeom prst="roundRect">
            <a:avLst>
              <a:gd name="adj" fmla="val 8000"/>
            </a:avLst>
          </a:prstGeom>
          <a:solidFill>
            <a:srgbClr val="0F222E">
              <a:alpha val="60000"/>
            </a:srgbClr>
          </a:solidFill>
          <a:ln w="15240">
            <a:solidFill>
              <a:srgbClr val="2ED98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1965960"/>
            <a:ext cx="1883664" cy="7315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185415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5" name="Picture 14" descr="i_E722_2ED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" y="2308311"/>
            <a:ext cx="266273" cy="26627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920240" y="2203704"/>
            <a:ext cx="329184" cy="329184"/>
          </a:xfrm>
          <a:prstGeom prst="ellipse">
            <a:avLst/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2037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ED98E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07208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19125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3D2DE"/>
                </a:solidFill>
                <a:latin typeface="Arial"/>
              </a:rPr>
              <a:t>Photo, GPS &amp;
symptoms captured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43784" y="1965960"/>
            <a:ext cx="1883664" cy="1828800"/>
          </a:xfrm>
          <a:prstGeom prst="roundRect">
            <a:avLst>
              <a:gd name="adj" fmla="val 8000"/>
            </a:avLst>
          </a:prstGeom>
          <a:solidFill>
            <a:srgbClr val="0F222E">
              <a:alpha val="60000"/>
            </a:srgbClr>
          </a:solidFill>
          <a:ln w="15240">
            <a:solidFill>
              <a:srgbClr val="3AD6C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43784" y="1965960"/>
            <a:ext cx="1883664" cy="73152"/>
          </a:xfrm>
          <a:prstGeom prst="rect">
            <a:avLst/>
          </a:prstGeom>
          <a:solidFill>
            <a:srgbClr val="3AD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26664" y="2185415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AD6C9">
              <a:alpha val="20000"/>
            </a:srgbClr>
          </a:solidFill>
          <a:ln w="12700">
            <a:solidFill>
              <a:srgbClr val="3AD6C9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3" name="Picture 22" descr="i_E9D9_3AD6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559" y="2308311"/>
            <a:ext cx="266273" cy="266273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4233672" y="2203704"/>
            <a:ext cx="329184" cy="329184"/>
          </a:xfrm>
          <a:prstGeom prst="ellipse">
            <a:avLst/>
          </a:prstGeom>
          <a:solidFill>
            <a:srgbClr val="3AD6C9">
              <a:alpha val="20000"/>
            </a:srgbClr>
          </a:solidFill>
          <a:ln w="12700">
            <a:solidFill>
              <a:srgbClr val="3AD6C9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22037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3AD6C9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2807208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AI Risk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319125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3D2DE"/>
                </a:solidFill>
                <a:latin typeface="Arial"/>
              </a:rPr>
              <a:t>Scored 0-100
Low / Medium / High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57216" y="1965960"/>
            <a:ext cx="1883664" cy="1828800"/>
          </a:xfrm>
          <a:prstGeom prst="roundRect">
            <a:avLst>
              <a:gd name="adj" fmla="val 8000"/>
            </a:avLst>
          </a:prstGeom>
          <a:solidFill>
            <a:srgbClr val="0F222E">
              <a:alpha val="60000"/>
            </a:srgbClr>
          </a:solidFill>
          <a:ln w="15240">
            <a:solidFill>
              <a:srgbClr val="A68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57216" y="1965960"/>
            <a:ext cx="1883664" cy="73152"/>
          </a:xfrm>
          <a:prstGeom prst="rect">
            <a:avLst/>
          </a:prstGeom>
          <a:solidFill>
            <a:srgbClr val="A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40096" y="2185415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A68CFF">
              <a:alpha val="20000"/>
            </a:srgbClr>
          </a:solidFill>
          <a:ln w="12700">
            <a:solidFill>
              <a:srgbClr val="A68C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31" name="Picture 30" descr="i_E81D_A6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991" y="2308311"/>
            <a:ext cx="266273" cy="266273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547104" y="2203704"/>
            <a:ext cx="329184" cy="329184"/>
          </a:xfrm>
          <a:prstGeom prst="ellipse">
            <a:avLst/>
          </a:prstGeom>
          <a:solidFill>
            <a:srgbClr val="A68CFF">
              <a:alpha val="20000"/>
            </a:srgbClr>
          </a:solidFill>
          <a:ln w="12700">
            <a:solidFill>
              <a:srgbClr val="A68C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22037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A68C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0096" y="2807208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Cluster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319125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3D2DE"/>
                </a:solidFill>
                <a:latin typeface="Arial"/>
              </a:rPr>
              <a:t>7-day · 5 km ·
3+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0648" y="1965960"/>
            <a:ext cx="1883664" cy="1828800"/>
          </a:xfrm>
          <a:prstGeom prst="roundRect">
            <a:avLst>
              <a:gd name="adj" fmla="val 8000"/>
            </a:avLst>
          </a:prstGeom>
          <a:solidFill>
            <a:srgbClr val="0F222E">
              <a:alpha val="60000"/>
            </a:srgbClr>
          </a:solidFill>
          <a:ln w="15240">
            <a:solidFill>
              <a:srgbClr val="F6C4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70648" y="1965960"/>
            <a:ext cx="1883664" cy="7315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53528" y="2185415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39" name="Picture 38" descr="i_E95E_F6C4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423" y="2308311"/>
            <a:ext cx="266273" cy="266273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8860536" y="2203704"/>
            <a:ext cx="329184" cy="329184"/>
          </a:xfrm>
          <a:prstGeom prst="ellipse">
            <a:avLst/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0536" y="22037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6C453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3528" y="2807208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Vet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319125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3D2DE"/>
                </a:solidFill>
                <a:latin typeface="Arial"/>
              </a:rPr>
              <a:t>Priority queue +
QR-verified visit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1965960"/>
            <a:ext cx="1883664" cy="1828800"/>
          </a:xfrm>
          <a:prstGeom prst="roundRect">
            <a:avLst>
              <a:gd name="adj" fmla="val 8000"/>
            </a:avLst>
          </a:prstGeom>
          <a:solidFill>
            <a:srgbClr val="0F222E">
              <a:alpha val="60000"/>
            </a:srgbClr>
          </a:solidFill>
          <a:ln w="15240">
            <a:solidFill>
              <a:srgbClr val="FF7A8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1965960"/>
            <a:ext cx="1883664" cy="73152"/>
          </a:xfrm>
          <a:prstGeom prst="rect">
            <a:avLst/>
          </a:prstGeom>
          <a:solidFill>
            <a:srgbClr val="FF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66960" y="2185415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7A8A">
              <a:alpha val="20000"/>
            </a:srgbClr>
          </a:solidFill>
          <a:ln w="12700">
            <a:solidFill>
              <a:srgbClr val="FF7A8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47" name="Picture 46" descr="i_EA18_FF7A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9855" y="2308311"/>
            <a:ext cx="266273" cy="266273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11173968" y="2203704"/>
            <a:ext cx="329184" cy="329184"/>
          </a:xfrm>
          <a:prstGeom prst="ellipse">
            <a:avLst/>
          </a:prstGeom>
          <a:solidFill>
            <a:srgbClr val="FF7A8A">
              <a:alpha val="20000"/>
            </a:srgbClr>
          </a:solidFill>
          <a:ln w="12700">
            <a:solidFill>
              <a:srgbClr val="FF7A8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73968" y="22037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7A8A"/>
                </a:solidFill>
                <a:latin typeface="Arial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2807208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Govt 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19125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3D2DE"/>
                </a:solidFill>
                <a:latin typeface="Arial"/>
              </a:rPr>
              <a:t>Risky case:
alert + ack.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41448" y="2834639"/>
            <a:ext cx="374904" cy="0"/>
          </a:xfrm>
          <a:prstGeom prst="line">
            <a:avLst/>
          </a:prstGeom>
          <a:ln w="28575">
            <a:solidFill>
              <a:srgbClr val="2ED9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754880" y="2834639"/>
            <a:ext cx="374903" cy="0"/>
          </a:xfrm>
          <a:prstGeom prst="line">
            <a:avLst/>
          </a:prstGeom>
          <a:ln w="28575">
            <a:solidFill>
              <a:srgbClr val="2ED9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068312" y="2834639"/>
            <a:ext cx="374904" cy="0"/>
          </a:xfrm>
          <a:prstGeom prst="line">
            <a:avLst/>
          </a:prstGeom>
          <a:ln w="28575">
            <a:solidFill>
              <a:srgbClr val="2ED9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81744" y="2834639"/>
            <a:ext cx="374904" cy="0"/>
          </a:xfrm>
          <a:prstGeom prst="line">
            <a:avLst/>
          </a:prstGeom>
          <a:ln w="28575">
            <a:solidFill>
              <a:srgbClr val="2ED9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372600" y="1709928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0" i="1">
                <a:solidFill>
                  <a:srgbClr val="FF7A8A"/>
                </a:solidFill>
                <a:latin typeface="Arial"/>
              </a:rPr>
              <a:t>if risky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0352" y="4041648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0F222E">
              <a:alpha val="4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1519" y="424281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59" name="Picture 58" descr="i_E72C_2ED9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7" y="4352544"/>
            <a:ext cx="237744" cy="23774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316736" y="420624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Offline-first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4700016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Reports queue locally and sync in the background.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34256" y="4041648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0F222E">
              <a:alpha val="4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35424" y="424281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64" name="Picture 63" descr="i_E72E_F6C45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4352544"/>
            <a:ext cx="237744" cy="23774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120640" y="420624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Verifiable &amp; audited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53712" y="4700016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QR codes are HMAC-signed; every action is audit-logged.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38160" y="4041648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0F222E">
              <a:alpha val="4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339328" y="424281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AD6C9">
              <a:alpha val="20000"/>
            </a:srgbClr>
          </a:solidFill>
          <a:ln w="12700">
            <a:solidFill>
              <a:srgbClr val="3AD6C9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69" name="Picture 68" descr="i_EA80_3AD6C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056" y="4352544"/>
            <a:ext cx="237744" cy="23774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924544" y="420624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Explainable AI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57616" y="4700016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Each score shows the symptoms that drove it.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0352" y="5285232"/>
            <a:ext cx="11137392" cy="548640"/>
          </a:xfrm>
          <a:prstGeom prst="roundRect">
            <a:avLst>
              <a:gd name="adj" fmla="val 30000"/>
            </a:avLst>
          </a:prstGeom>
          <a:solidFill>
            <a:srgbClr val="122A38">
              <a:alpha val="70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" y="5285232"/>
            <a:ext cx="1113739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2ED98E"/>
                </a:solidFill>
                <a:latin typeface="Arial"/>
              </a:rPr>
              <a:t>POWERED BY   </a:t>
            </a:r>
            <a:r>
              <a:rPr sz="1000" b="0" i="0">
                <a:solidFill>
                  <a:srgbClr val="C3D2DE"/>
                </a:solidFill>
                <a:latin typeface="Arial"/>
              </a:rPr>
              <a:t>Groq LLM · Firebase FCM · Backblaze B2 · Postal API        </a:t>
            </a:r>
            <a:r>
              <a:rPr sz="950" b="1" i="0">
                <a:solidFill>
                  <a:srgbClr val="F6C453"/>
                </a:solidFill>
                <a:latin typeface="Arial"/>
              </a:rPr>
              <a:t>BUILT WITH   </a:t>
            </a:r>
            <a:r>
              <a:rPr sz="1000" b="0" i="0">
                <a:solidFill>
                  <a:srgbClr val="C3D2DE"/>
                </a:solidFill>
                <a:latin typeface="Arial"/>
              </a:rPr>
              <a:t>Kotlin · Jetpack Compose · Node.js · Express · Turso · React 19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6492240"/>
            <a:ext cx="10911535" cy="18288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6547104"/>
            <a:ext cx="8686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2ED98E"/>
                </a:solidFill>
                <a:latin typeface="Arial"/>
              </a:rPr>
              <a:t>PASHURAKSHAK</a:t>
            </a:r>
            <a:r>
              <a:rPr sz="950" b="0" i="0">
                <a:solidFill>
                  <a:srgbClr val="7A90A2"/>
                </a:solidFill>
                <a:latin typeface="Arial"/>
              </a:rPr>
              <a:t>  •  Livestock Disease Early-Warning System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80015" y="6547104"/>
            <a:ext cx="1371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7A90A2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4206240"/>
            <a:ext cx="4206240" cy="4206240"/>
          </a:xfrm>
          <a:prstGeom prst="donut">
            <a:avLst>
              <a:gd name="adj" fmla="val 3500"/>
            </a:avLst>
          </a:prstGeom>
          <a:solidFill>
            <a:srgbClr val="2ED9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1097280" y="4480560"/>
            <a:ext cx="3108960" cy="3108960"/>
          </a:xfrm>
          <a:prstGeom prst="donut">
            <a:avLst>
              <a:gd name="adj" fmla="val 5000"/>
            </a:avLst>
          </a:prstGeom>
          <a:solidFill>
            <a:srgbClr val="3AD6C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W h o   I t   S e r v e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731520"/>
            <a:ext cx="9692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One Platform, Four Experiences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3D2DE"/>
                </a:solidFill>
                <a:latin typeface="Arial"/>
              </a:rPr>
              <a:t>Purpose-built interfaces for every stakeholder in the livestock ecosystem.</a:t>
            </a:r>
          </a:p>
        </p:txBody>
      </p:sp>
      <p:sp>
        <p:nvSpPr>
          <p:cNvPr id="10" name="Donut 9"/>
          <p:cNvSpPr/>
          <p:nvPr/>
        </p:nvSpPr>
        <p:spPr>
          <a:xfrm>
            <a:off x="11021263" y="384048"/>
            <a:ext cx="786384" cy="786384"/>
          </a:xfrm>
          <a:prstGeom prst="donut">
            <a:avLst>
              <a:gd name="adj" fmla="val 6000"/>
            </a:avLst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21263" y="38404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6C453"/>
                </a:solidFill>
                <a:latin typeface="Arial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2011679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5" name="Picture 14" descr="i_E77B_2ED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" y="2143353"/>
            <a:ext cx="285292" cy="285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2011679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Arial"/>
              </a:rPr>
              <a:t>Farmer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48255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2ED98E"/>
                </a:solidFill>
                <a:latin typeface="Arial"/>
              </a:rPr>
              <a:t>Android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724912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Report sick animals with photo, GPS &amp; symptoms.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Instant AI risk level — online or offline.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2ED98E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QR animal passports + vaccination tracking.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7373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737360"/>
            <a:ext cx="5257800" cy="73152"/>
          </a:xfrm>
          <a:prstGeom prst="rect">
            <a:avLst/>
          </a:prstGeom>
          <a:solidFill>
            <a:srgbClr val="3AD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7104" y="2011679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3AD6C9">
              <a:alpha val="20000"/>
            </a:srgbClr>
          </a:solidFill>
          <a:ln w="12700">
            <a:solidFill>
              <a:srgbClr val="3AD6C9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2" name="Picture 21" descr="i_E95E_3AD6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7" y="214335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05472" y="2011679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Arial"/>
              </a:rPr>
              <a:t>Vet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2048255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3AD6C9"/>
                </a:solidFill>
                <a:latin typeface="Arial"/>
              </a:rPr>
              <a:t>Android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24912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3AD6C9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Priority queue — red alerts first.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3AD6C9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Field tools: examine, notes, sample requests.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3AD6C9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Explainable AI + “3+ cases within 5 km” warnings.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67328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767328"/>
            <a:ext cx="5257800" cy="7315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" y="40416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9" name="Picture 28" descr="i_EA18_F6C4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" y="4173321"/>
            <a:ext cx="285292" cy="2852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54480" y="404164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Arial"/>
              </a:rPr>
              <a:t>Government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78224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F6C453"/>
                </a:solidFill>
                <a:latin typeface="Arial"/>
              </a:rPr>
              <a:t>React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75488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F6C453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Live dashboard of reports, cases &amp; clusters.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F6C453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Vet approval with pincode, then district routing.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F6C453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Outbreak maps + official alert acknowledgment.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3767328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91072" y="3767328"/>
            <a:ext cx="5257800" cy="73152"/>
          </a:xfrm>
          <a:prstGeom prst="rect">
            <a:avLst/>
          </a:prstGeom>
          <a:solidFill>
            <a:srgbClr val="A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47104" y="40416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A68CFF">
              <a:alpha val="20000"/>
            </a:srgbClr>
          </a:solidFill>
          <a:ln w="12700">
            <a:solidFill>
              <a:srgbClr val="A68C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36" name="Picture 35" descr="i_E8E5_A68C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77" y="4173321"/>
            <a:ext cx="285292" cy="2852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05472" y="404164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Arial"/>
              </a:rPr>
              <a:t>Vet Registration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4078224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1" i="0">
                <a:solidFill>
                  <a:srgbClr val="A68CFF"/>
                </a:solidFill>
                <a:latin typeface="Arial"/>
              </a:rPr>
              <a:t>React Web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75488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A68CFF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Email OTP verification + secure PIN setup.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A68CFF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Professional application with coverage areas.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A68CFF"/>
                </a:solidFill>
                <a:latin typeface="Arial"/>
              </a:rPr>
              <a:t>•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Real-time application status tracking.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92240"/>
            <a:ext cx="10911535" cy="18288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547104"/>
            <a:ext cx="8686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2ED98E"/>
                </a:solidFill>
                <a:latin typeface="Arial"/>
              </a:rPr>
              <a:t>PASHURAKSHAK</a:t>
            </a:r>
            <a:r>
              <a:rPr sz="950" b="0" i="0">
                <a:solidFill>
                  <a:srgbClr val="7A90A2"/>
                </a:solidFill>
                <a:latin typeface="Arial"/>
              </a:rPr>
              <a:t>  •  Livestock Disease Early-Warning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547104"/>
            <a:ext cx="1371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7A90A2"/>
                </a:solidFill>
                <a:latin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4206240"/>
            <a:ext cx="4206240" cy="4206240"/>
          </a:xfrm>
          <a:prstGeom prst="donut">
            <a:avLst>
              <a:gd name="adj" fmla="val 3500"/>
            </a:avLst>
          </a:prstGeom>
          <a:solidFill>
            <a:srgbClr val="2ED9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1097280" y="4480560"/>
            <a:ext cx="3108960" cy="3108960"/>
          </a:xfrm>
          <a:prstGeom prst="donut">
            <a:avLst>
              <a:gd name="adj" fmla="val 5000"/>
            </a:avLst>
          </a:prstGeom>
          <a:solidFill>
            <a:srgbClr val="3AD6C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T h e   I n t e l l i g e n c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731520"/>
            <a:ext cx="9692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AI Risk Scoring &amp; Outbreak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3D2DE"/>
                </a:solidFill>
                <a:latin typeface="Arial"/>
              </a:rPr>
              <a:t>Turning raw field reports into ranked, actionable warnings.</a:t>
            </a:r>
          </a:p>
        </p:txBody>
      </p:sp>
      <p:sp>
        <p:nvSpPr>
          <p:cNvPr id="10" name="Donut 9"/>
          <p:cNvSpPr/>
          <p:nvPr/>
        </p:nvSpPr>
        <p:spPr>
          <a:xfrm>
            <a:off x="11021263" y="384048"/>
            <a:ext cx="786384" cy="786384"/>
          </a:xfrm>
          <a:prstGeom prst="donut">
            <a:avLst>
              <a:gd name="adj" fmla="val 6000"/>
            </a:avLst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21263" y="38404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6C453"/>
                </a:solidFill>
                <a:latin typeface="Arial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5257800" cy="2880360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04825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5" name="Picture 14" descr="i_E9D9_2ED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684" y="2175540"/>
            <a:ext cx="275783" cy="2757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2768" y="2048256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Arial"/>
              </a:rPr>
              <a:t>AI Symptom Risk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6148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3D2DE"/>
                </a:solidFill>
                <a:latin typeface="Arial"/>
              </a:rPr>
              <a:t>Every report is scored 0–100 by an LLM using weighted symptoms (fever, lethargy, appetite …).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493008"/>
            <a:ext cx="146304" cy="146304"/>
          </a:xfrm>
          <a:prstGeom prst="ellipse">
            <a:avLst/>
          </a:prstGeom>
          <a:solidFill>
            <a:srgbClr val="FF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401568"/>
            <a:ext cx="35661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FF7A8A"/>
                </a:solidFill>
                <a:latin typeface="Arial"/>
              </a:rPr>
              <a:t>HIGH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60+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•  immediate vet alert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840480"/>
            <a:ext cx="146304" cy="146304"/>
          </a:xfrm>
          <a:prstGeom prst="ellipse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749040"/>
            <a:ext cx="35661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F6C453"/>
                </a:solidFill>
                <a:latin typeface="Arial"/>
              </a:rPr>
              <a:t>MEDIUM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30-59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•  routine triage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187952"/>
            <a:ext cx="146304" cy="146304"/>
          </a:xfrm>
          <a:prstGeom prst="ellipse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096512"/>
            <a:ext cx="35661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LOW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&lt; 30  </a:t>
            </a:r>
            <a:r>
              <a:rPr sz="1200" b="0" i="0">
                <a:solidFill>
                  <a:srgbClr val="C3D2DE"/>
                </a:solidFill>
                <a:latin typeface="Arial"/>
              </a:rPr>
              <a:t>•  self-care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7A90A2"/>
                </a:solidFill>
                <a:latin typeface="Arial"/>
              </a:rPr>
              <a:t>Model: openai/gpt-oss-120b via Groq API.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737360"/>
            <a:ext cx="5257800" cy="2880360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1737360"/>
            <a:ext cx="5257800" cy="73152"/>
          </a:xfrm>
          <a:prstGeom prst="rect">
            <a:avLst/>
          </a:prstGeom>
          <a:solidFill>
            <a:srgbClr val="3AD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65392" y="204825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3AD6C9">
              <a:alpha val="20000"/>
            </a:srgbClr>
          </a:solidFill>
          <a:ln w="12700">
            <a:solidFill>
              <a:srgbClr val="3AD6C9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8" name="Picture 27" descr="i_E81D_3AD6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76" y="2175540"/>
            <a:ext cx="275783" cy="27578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3760" y="2048256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Arial"/>
              </a:rPr>
              <a:t>Automatic Outbreak Clustering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276148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3D2DE"/>
                </a:solidFill>
                <a:latin typeface="Arial"/>
              </a:rPr>
              <a:t>Reports are grouped geographically to catch outbreaks early — no manual effort required.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3438144"/>
            <a:ext cx="1536192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0000"/>
            </a:srgbClr>
          </a:solidFill>
          <a:ln w="12700">
            <a:solidFill>
              <a:srgbClr val="3AD6C9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32" name="Picture 31" descr="i_E787_3AD6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3666744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14031" y="35478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7-day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1" y="3877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A90A2"/>
                </a:solidFill>
                <a:latin typeface="Arial"/>
              </a:rPr>
              <a:t>window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6175" y="3438144"/>
            <a:ext cx="1536192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0000"/>
            </a:srgbClr>
          </a:solidFill>
          <a:ln w="12700">
            <a:solidFill>
              <a:srgbClr val="2ED98E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36" name="Picture 35" descr="i_E81D_2ED9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666744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14815" y="35478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5 km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5" y="3877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A90A2"/>
                </a:solidFill>
                <a:latin typeface="Arial"/>
              </a:rPr>
              <a:t>radius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59" y="3438144"/>
            <a:ext cx="1536192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0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40" name="Picture 39" descr="i_E716_F6C4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3" y="3666744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515599" y="35478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3+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599" y="3877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A90A2"/>
                </a:solidFill>
                <a:latin typeface="Arial"/>
              </a:rPr>
              <a:t>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43708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7A90A2"/>
                </a:solidFill>
                <a:latin typeface="Arial"/>
              </a:rPr>
              <a:t>Triggers push alerts to nearby vets &amp; the government portal.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846320"/>
            <a:ext cx="10908792" cy="1024128"/>
          </a:xfrm>
          <a:prstGeom prst="roundRect">
            <a:avLst>
              <a:gd name="adj" fmla="val 6000"/>
            </a:avLst>
          </a:prstGeom>
          <a:solidFill>
            <a:srgbClr val="122A38">
              <a:alpha val="80000"/>
            </a:srgbClr>
          </a:solidFill>
          <a:ln w="12700">
            <a:solidFill>
              <a:srgbClr val="2ED98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" y="502005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46" name="Picture 45" descr="i_E72E_F6C4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" y="5151729"/>
            <a:ext cx="285292" cy="28529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36192" y="50017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Trust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5276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7A90A2"/>
                </a:solidFill>
                <a:latin typeface="Arial"/>
              </a:rPr>
              <a:t>Verifiable records that make the data trustworthy.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846320"/>
            <a:ext cx="1731264" cy="10241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C3D2DE"/>
                </a:solidFill>
                <a:latin typeface="Arial"/>
              </a:rPr>
              <a:t>•  Signed QR 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3464" y="4846320"/>
            <a:ext cx="1731264" cy="10241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C3D2DE"/>
                </a:solidFill>
                <a:latin typeface="Arial"/>
              </a:rPr>
              <a:t>•  Vet-verified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7608" y="4846320"/>
            <a:ext cx="1731264" cy="10241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C3D2DE"/>
                </a:solidFill>
                <a:latin typeface="Arial"/>
              </a:rPr>
              <a:t>•  Immutable audit log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6492240"/>
            <a:ext cx="10911535" cy="18288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547104"/>
            <a:ext cx="8686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2ED98E"/>
                </a:solidFill>
                <a:latin typeface="Arial"/>
              </a:rPr>
              <a:t>PASHURAKSHAK</a:t>
            </a:r>
            <a:r>
              <a:rPr sz="950" b="0" i="0">
                <a:solidFill>
                  <a:srgbClr val="7A90A2"/>
                </a:solidFill>
                <a:latin typeface="Arial"/>
              </a:rPr>
              <a:t>  •  Livestock Disease Early-Warning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0015" y="6547104"/>
            <a:ext cx="1371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7A90A2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4206240"/>
            <a:ext cx="4206240" cy="4206240"/>
          </a:xfrm>
          <a:prstGeom prst="donut">
            <a:avLst>
              <a:gd name="adj" fmla="val 3500"/>
            </a:avLst>
          </a:prstGeom>
          <a:solidFill>
            <a:srgbClr val="2ED9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-1097280" y="4480560"/>
            <a:ext cx="3108960" cy="3108960"/>
          </a:xfrm>
          <a:prstGeom prst="donut">
            <a:avLst>
              <a:gd name="adj" fmla="val 5000"/>
            </a:avLst>
          </a:prstGeom>
          <a:solidFill>
            <a:srgbClr val="3AD6C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T h e   V i s i o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731520"/>
            <a:ext cx="96926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What's Next — Feature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3D2DE"/>
                </a:solidFill>
                <a:latin typeface="Arial"/>
              </a:rPr>
              <a:t>The capabilities we are designing on top of today's platform.</a:t>
            </a:r>
          </a:p>
        </p:txBody>
      </p:sp>
      <p:sp>
        <p:nvSpPr>
          <p:cNvPr id="10" name="Donut 9"/>
          <p:cNvSpPr/>
          <p:nvPr/>
        </p:nvSpPr>
        <p:spPr>
          <a:xfrm>
            <a:off x="11021263" y="384048"/>
            <a:ext cx="786384" cy="786384"/>
          </a:xfrm>
          <a:prstGeom prst="donut">
            <a:avLst>
              <a:gd name="adj" fmla="val 6000"/>
            </a:avLst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21263" y="38404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6C453"/>
                </a:solidFill>
                <a:latin typeface="Arial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484632"/>
            <a:ext cx="1298448" cy="365760"/>
          </a:xfrm>
          <a:prstGeom prst="roundRect">
            <a:avLst>
              <a:gd name="adj" fmla="val 45000"/>
            </a:avLst>
          </a:prstGeom>
          <a:solidFill>
            <a:srgbClr val="F6C453">
              <a:alpha val="16000"/>
            </a:srgbClr>
          </a:solidFill>
          <a:ln w="12700">
            <a:solidFill>
              <a:srgbClr val="F6C453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484632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6C453"/>
                </a:solidFill>
                <a:latin typeface="Arial"/>
              </a:rPr>
              <a:t>PLANNED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37360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9525">
            <a:solidFill>
              <a:srgbClr val="253E4E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737360"/>
            <a:ext cx="91440" cy="749808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18836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7" name="Picture 16" descr="i_EA80_2ED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9339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1328" y="1737360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2ED98E"/>
                </a:solidFill>
                <a:latin typeface="Arial"/>
              </a:rPr>
              <a:t>Advanced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1737360"/>
            <a:ext cx="76352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Photo lesion detection · learning from vet outcomes · outbreak forecasting · cited (RAG) advisories · regional-language voice · CI safety-eval (never prescribes)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542032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9525">
            <a:solidFill>
              <a:srgbClr val="253E4E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542032"/>
            <a:ext cx="91440" cy="749808"/>
          </a:xfrm>
          <a:prstGeom prst="rect">
            <a:avLst/>
          </a:prstGeom>
          <a:solidFill>
            <a:srgbClr val="3AD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26883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AD6C9">
              <a:alpha val="20000"/>
            </a:srgbClr>
          </a:solidFill>
          <a:ln w="12700">
            <a:solidFill>
              <a:srgbClr val="3AD6C9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3" name="Picture 22" descr="i_E77B_3AD6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98064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81328" y="2542032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3AD6C9"/>
                </a:solidFill>
                <a:latin typeface="Arial"/>
              </a:rPr>
              <a:t>Farmer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542032"/>
            <a:ext cx="76352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Vet teleconsultation · treatment &amp; withdrawal tracking · herd records &amp; productivity · reminders via push/SMS/WhatsApp · localization (Bhashini) · accessibility · community alerts · insurance export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346703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9525">
            <a:solidFill>
              <a:srgbClr val="253E4E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346703"/>
            <a:ext cx="91440" cy="749808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" y="3493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9" name="Picture 28" descr="i_E95E_F6C4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02736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81328" y="3346703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F6C453"/>
                </a:solidFill>
                <a:latin typeface="Arial"/>
              </a:rPr>
              <a:t>Vet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346703"/>
            <a:ext cx="76352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Smart assignment (distance, caseload, specialty) · SLA escalation · travel-time routing · structured clinical forms · e-prescriptions · cold-chain inventory · lab integration · 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51376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9525">
            <a:solidFill>
              <a:srgbClr val="253E4E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151376"/>
            <a:ext cx="91440" cy="749808"/>
          </a:xfrm>
          <a:prstGeom prst="rect">
            <a:avLst/>
          </a:prstGeom>
          <a:solidFill>
            <a:srgbClr val="A6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6112" y="42976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A68CFF">
              <a:alpha val="20000"/>
            </a:srgbClr>
          </a:solidFill>
          <a:ln w="12700">
            <a:solidFill>
              <a:srgbClr val="A68C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35" name="Picture 34" descr="i_EA18_A68C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07408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81328" y="4151376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A68CFF"/>
                </a:solidFill>
                <a:latin typeface="Arial"/>
              </a:rPr>
              <a:t>Government &amp; Oversight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151376"/>
            <a:ext cx="76352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H3 geospatial heatmap · quarantine zones · movement e-permits · vaccination campaigns · official PDF reports · multi-tier roles · escalation &amp; audit trail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956048"/>
            <a:ext cx="10908792" cy="749808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9525">
            <a:solidFill>
              <a:srgbClr val="253E4E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956048"/>
            <a:ext cx="91440" cy="749808"/>
          </a:xfrm>
          <a:prstGeom prst="rect">
            <a:avLst/>
          </a:prstGeom>
          <a:solidFill>
            <a:srgbClr val="FF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6112" y="51023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7A8A">
              <a:alpha val="20000"/>
            </a:srgbClr>
          </a:solidFill>
          <a:ln w="12700">
            <a:solidFill>
              <a:srgbClr val="FF7A8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41" name="Picture 40" descr="i_E753_FF7A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212080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81328" y="4956048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FF7A8A"/>
                </a:solidFill>
                <a:latin typeface="Arial"/>
              </a:rPr>
              <a:t>Integrations &amp; Hardware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956048"/>
            <a:ext cx="76352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C3D2DE"/>
                </a:solidFill>
                <a:latin typeface="Arial"/>
              </a:rPr>
              <a:t>National livestock ID linkage · WhatsApp reporting bot · maps &amp; geocoding · IoT sensors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760720"/>
            <a:ext cx="10908792" cy="502920"/>
          </a:xfrm>
          <a:prstGeom prst="roundRect">
            <a:avLst>
              <a:gd name="adj" fmla="val 20000"/>
            </a:avLst>
          </a:prstGeom>
          <a:solidFill>
            <a:srgbClr val="122A38">
              <a:alpha val="78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60720"/>
            <a:ext cx="1090879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Every capability keeps the same guarantees: AI defers to a vet, and every action stays auditable.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92240"/>
            <a:ext cx="10911535" cy="18288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547104"/>
            <a:ext cx="86868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2ED98E"/>
                </a:solidFill>
                <a:latin typeface="Arial"/>
              </a:rPr>
              <a:t>PASHURAKSHAK</a:t>
            </a:r>
            <a:r>
              <a:rPr sz="950" b="0" i="0">
                <a:solidFill>
                  <a:srgbClr val="7A90A2"/>
                </a:solidFill>
                <a:latin typeface="Arial"/>
              </a:rPr>
              <a:t>  •  Livestock Disease Early-Warning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0015" y="6547104"/>
            <a:ext cx="1371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i="0">
                <a:solidFill>
                  <a:srgbClr val="7A90A2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141F"/>
              </a:gs>
              <a:gs pos="100000">
                <a:srgbClr val="0C242E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966960" y="-1554480"/>
            <a:ext cx="4937760" cy="4937760"/>
          </a:xfrm>
          <a:prstGeom prst="donut">
            <a:avLst>
              <a:gd name="adj" fmla="val 2000"/>
            </a:avLst>
          </a:prstGeom>
          <a:solidFill>
            <a:srgbClr val="2ED98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0" cy="11887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2ED98E"/>
                </a:solidFill>
                <a:latin typeface="Arial"/>
              </a:rPr>
              <a:t>I m p a c t   ·   W h y   N o w   ·   T h e   A s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731520"/>
            <a:ext cx="1097280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Early detection saves livestock, livelihoods and money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257800" cy="3657600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ED98E">
              <a:alpha val="20000"/>
            </a:srgbClr>
          </a:solidFill>
          <a:ln w="12700">
            <a:solidFill>
              <a:srgbClr val="2ED98E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11" name="Picture 10" descr="i_E9D2_2ED9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684" y="2138964"/>
            <a:ext cx="275783" cy="2757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2011680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Expected Impact — 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2ED98E"/>
                </a:solidFill>
                <a:latin typeface="Arial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8892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C3D2DE"/>
                </a:solidFill>
                <a:latin typeface="Arial"/>
              </a:rPr>
              <a:t>farmers onboarded across 3 districts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64408"/>
            <a:ext cx="4709160" cy="10972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2ED98E"/>
                </a:solidFill>
                <a:latin typeface="Arial"/>
              </a:rPr>
              <a:t>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33756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C3D2DE"/>
                </a:solidFill>
                <a:latin typeface="Arial"/>
              </a:rPr>
              <a:t>symptom reports filed per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13048"/>
            <a:ext cx="4709160" cy="10972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2ED98E"/>
                </a:solidFill>
                <a:latin typeface="Arial"/>
              </a:rPr>
              <a:t>&lt; 24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88620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C3D2DE"/>
                </a:solidFill>
                <a:latin typeface="Arial"/>
              </a:rPr>
              <a:t>response time to high-risk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61688"/>
            <a:ext cx="4709160" cy="10972"/>
          </a:xfrm>
          <a:prstGeom prst="rect">
            <a:avLst/>
          </a:prstGeom>
          <a:solidFill>
            <a:srgbClr val="253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2ED98E"/>
                </a:solidFill>
                <a:latin typeface="Arial"/>
              </a:rPr>
              <a:t>15+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348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C3D2DE"/>
                </a:solidFill>
                <a:latin typeface="Arial"/>
              </a:rPr>
              <a:t>outbreaks detected early per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1737360"/>
            <a:ext cx="5257800" cy="3657600"/>
          </a:xfrm>
          <a:prstGeom prst="roundRect">
            <a:avLst>
              <a:gd name="adj" fmla="val 6000"/>
            </a:avLst>
          </a:prstGeom>
          <a:solidFill>
            <a:srgbClr val="0F222E">
              <a:alpha val="55000"/>
            </a:srgbClr>
          </a:solidFill>
          <a:ln w="12700">
            <a:solidFill>
              <a:srgbClr val="253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1737360"/>
            <a:ext cx="5257800" cy="73152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5392" y="201168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6C453">
              <a:alpha val="20000"/>
            </a:srgbClr>
          </a:solidFill>
          <a:ln w="12700">
            <a:solidFill>
              <a:srgbClr val="F6C453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7" name="Picture 26" descr="i_E945_F6C4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76" y="2138964"/>
            <a:ext cx="275783" cy="27578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23760" y="2011680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2697480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6C453"/>
                </a:solidFill>
                <a:latin typeface="Arial"/>
              </a:rPr>
              <a:t>•  </a:t>
            </a:r>
            <a:r>
              <a:rPr sz="1100" b="0" i="0">
                <a:solidFill>
                  <a:srgbClr val="C3D2DE"/>
                </a:solidFill>
                <a:latin typeface="Arial"/>
              </a:rPr>
              <a:t>Aligns with the National Livestock Mission &amp; Digital India.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6C453"/>
                </a:solidFill>
                <a:latin typeface="Arial"/>
              </a:rPr>
              <a:t>•  </a:t>
            </a:r>
            <a:r>
              <a:rPr sz="1100" b="0" i="0">
                <a:solidFill>
                  <a:srgbClr val="C3D2DE"/>
                </a:solidFill>
                <a:latin typeface="Arial"/>
              </a:rPr>
              <a:t>Rural smartphone + WhatsApp penetration is at an all-time high.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6C453"/>
                </a:solidFill>
                <a:latin typeface="Arial"/>
              </a:rPr>
              <a:t>•  </a:t>
            </a:r>
            <a:r>
              <a:rPr sz="1100" b="0" i="0">
                <a:solidFill>
                  <a:srgbClr val="C3D2DE"/>
                </a:solidFill>
                <a:latin typeface="Arial"/>
              </a:rPr>
              <a:t>Livestock is a lakh-crore economy with huge, preventable losses.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0690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A90A2"/>
                </a:solidFill>
                <a:latin typeface="Arial"/>
              </a:rPr>
              <a:t>DELIVERY ROADMAP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4389120"/>
            <a:ext cx="932688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5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443984"/>
            <a:ext cx="93268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6C453"/>
                </a:solidFill>
                <a:latin typeface="Arial"/>
              </a:rP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4754880"/>
            <a:ext cx="8412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C3D2DE"/>
                </a:solidFill>
                <a:latin typeface="Arial"/>
              </a:rPr>
              <a:t>Harden &amp; localize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4389120"/>
            <a:ext cx="932688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5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4443984"/>
            <a:ext cx="93268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6C453"/>
                </a:solidFill>
                <a:latin typeface="Arial"/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0376" y="4754880"/>
            <a:ext cx="8412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C3D2DE"/>
                </a:solidFill>
                <a:latin typeface="Arial"/>
              </a:rPr>
              <a:t>Smarter triage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4389120"/>
            <a:ext cx="932688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5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443984"/>
            <a:ext cx="93268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6C453"/>
                </a:solidFill>
                <a:latin typeface="Arial"/>
              </a:rPr>
              <a:t>P3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754880"/>
            <a:ext cx="8412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C3D2DE"/>
                </a:solidFill>
                <a:latin typeface="Arial"/>
              </a:rPr>
              <a:t>Farmer reach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73184" y="4389120"/>
            <a:ext cx="932688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5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4443984"/>
            <a:ext cx="93268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6C453"/>
                </a:solidFill>
                <a:latin typeface="Arial"/>
              </a:rPr>
              <a:t>P4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8904" y="4754880"/>
            <a:ext cx="8412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C3D2DE"/>
                </a:solidFill>
                <a:latin typeface="Arial"/>
              </a:rPr>
              <a:t>Predictive &amp; spatial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42448" y="4389120"/>
            <a:ext cx="932688" cy="822960"/>
          </a:xfrm>
          <a:prstGeom prst="roundRect">
            <a:avLst>
              <a:gd name="adj" fmla="val 14000"/>
            </a:avLst>
          </a:prstGeom>
          <a:solidFill>
            <a:srgbClr val="122A38">
              <a:alpha val="75000"/>
            </a:srgbClr>
          </a:solidFill>
          <a:ln w="12700">
            <a:solidFill>
              <a:srgbClr val="F6C453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2448" y="4443984"/>
            <a:ext cx="93268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6C453"/>
                </a:solidFill>
                <a:latin typeface="Arial"/>
              </a:rPr>
              <a:t>P5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4754880"/>
            <a:ext cx="8412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C3D2DE"/>
                </a:solidFill>
                <a:latin typeface="Arial"/>
              </a:rPr>
              <a:t>Ecosystem &amp; IoT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623560"/>
            <a:ext cx="10908792" cy="713232"/>
          </a:xfrm>
          <a:prstGeom prst="roundRect">
            <a:avLst>
              <a:gd name="adj" fmla="val 10000"/>
            </a:avLst>
          </a:prstGeom>
          <a:solidFill>
            <a:srgbClr val="2ED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41848"/>
            <a:ext cx="10908792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800" b="1" i="0">
                <a:solidFill>
                  <a:srgbClr val="07141F"/>
                </a:solidFill>
                <a:latin typeface="Arial"/>
              </a:rPr>
              <a:t>Let's bring PashuRakshak to every farmer</a:t>
            </a:r>
          </a:p>
          <a:p>
            <a:pPr algn="ctr"/>
            <a:r>
              <a:rPr sz="1050" b="1" i="0">
                <a:solidFill>
                  <a:srgbClr val="0A3828"/>
                </a:solidFill>
                <a:latin typeface="Arial"/>
              </a:rPr>
              <a:t>One connected, offline-first, AI-assisted — yet always vet-verified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7A90A2"/>
                </a:solidFill>
                <a:latin typeface="Arial"/>
              </a:rPr>
              <a:t>Team PashuRakshak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